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1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MEDE · CP</a:t>
            </a:r>
            <a:r>
              <a:rPr lang="ro-RO" sz="900" kern="0" spc="200" dirty="0">
                <a:solidFill>
                  <a:srgbClr val="C8702A"/>
                </a:solidFill>
              </a:rPr>
              <a:t>0</a:t>
            </a:r>
            <a:r>
              <a:rPr lang="en-US" sz="900" kern="0" spc="200" dirty="0">
                <a:solidFill>
                  <a:srgbClr val="C8702A"/>
                </a:solidFill>
              </a:rPr>
              <a:t> · [NUMELE ETAPEI] · SĂPTĂMÂNA </a:t>
            </a:r>
            <a:r>
              <a:rPr lang="ro-RO" sz="900" kern="0" spc="200" dirty="0">
                <a:solidFill>
                  <a:srgbClr val="C8702A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</a:t>
            </a:r>
            <a:r>
              <a:rPr lang="ro-RO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ță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Ana-Maria-Larisa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U12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</a:t>
            </a:r>
            <a:r>
              <a:rPr lang="it-IT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Senzorul de calitate a aerului (senzor × zi)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100" b="1" dirty="0" err="1">
                <a:solidFill>
                  <a:srgbClr val="1B2A41"/>
                </a:solidFill>
              </a:rPr>
              <a:t>Întrebarea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mea</a:t>
            </a:r>
            <a:r>
              <a:rPr lang="en-US" sz="1100" b="1" dirty="0">
                <a:solidFill>
                  <a:srgbClr val="1B2A41"/>
                </a:solidFill>
              </a:rPr>
              <a:t>: Cum </a:t>
            </a:r>
            <a:r>
              <a:rPr lang="en-US" sz="1100" b="1" dirty="0" err="1">
                <a:solidFill>
                  <a:srgbClr val="1B2A41"/>
                </a:solidFill>
              </a:rPr>
              <a:t>variază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concentrația</a:t>
            </a:r>
            <a:r>
              <a:rPr lang="en-US" sz="1100" b="1" dirty="0">
                <a:solidFill>
                  <a:srgbClr val="1B2A41"/>
                </a:solidFill>
              </a:rPr>
              <a:t> de PM2.5 la </a:t>
            </a:r>
            <a:r>
              <a:rPr lang="en-US" sz="1100" b="1" dirty="0" err="1">
                <a:solidFill>
                  <a:srgbClr val="1B2A41"/>
                </a:solidFill>
              </a:rPr>
              <a:t>stația</a:t>
            </a:r>
            <a:r>
              <a:rPr lang="en-US" sz="1100" b="1" dirty="0">
                <a:solidFill>
                  <a:srgbClr val="1B2A41"/>
                </a:solidFill>
              </a:rPr>
              <a:t> B12 </a:t>
            </a:r>
            <a:r>
              <a:rPr lang="en-US" sz="1100" b="1" dirty="0" err="1">
                <a:solidFill>
                  <a:srgbClr val="1B2A41"/>
                </a:solidFill>
              </a:rPr>
              <a:t>în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funcție</a:t>
            </a:r>
            <a:r>
              <a:rPr lang="en-US" sz="1100" b="1" dirty="0">
                <a:solidFill>
                  <a:srgbClr val="1B2A41"/>
                </a:solidFill>
              </a:rPr>
              <a:t> de </a:t>
            </a:r>
            <a:r>
              <a:rPr lang="en-US" sz="1100" b="1" dirty="0" err="1">
                <a:solidFill>
                  <a:srgbClr val="1B2A41"/>
                </a:solidFill>
              </a:rPr>
              <a:t>temperatura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medie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și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viteza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medie</a:t>
            </a:r>
            <a:r>
              <a:rPr lang="en-US" sz="1100" b="1" dirty="0">
                <a:solidFill>
                  <a:srgbClr val="1B2A41"/>
                </a:solidFill>
              </a:rPr>
              <a:t> a </a:t>
            </a:r>
            <a:r>
              <a:rPr lang="en-US" sz="1100" b="1" dirty="0" err="1">
                <a:solidFill>
                  <a:srgbClr val="1B2A41"/>
                </a:solidFill>
              </a:rPr>
              <a:t>vântului</a:t>
            </a:r>
            <a:r>
              <a:rPr lang="en-US" sz="1100" b="1" dirty="0">
                <a:solidFill>
                  <a:srgbClr val="1B2A41"/>
                </a:solidFill>
              </a:rPr>
              <a:t>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23110"/>
            <a:ext cx="3840480" cy="1420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o-RO" sz="1100" b="1" dirty="0"/>
              <a:t>Unitatea de analiză:</a:t>
            </a:r>
            <a:r>
              <a:rPr lang="ro-RO" sz="1100" dirty="0"/>
              <a:t> stația de monitorizare a calității aerului CJ1 din Cluj-Napoca, analizată la nivel zilnic (stație × zi).</a:t>
            </a:r>
            <a:endParaRPr lang="en-US" sz="1100" dirty="0"/>
          </a:p>
          <a:p>
            <a:endParaRPr lang="ro-RO" sz="1100" dirty="0"/>
          </a:p>
          <a:p>
            <a:pPr lvl="0"/>
            <a:r>
              <a:rPr lang="ro-RO" sz="1100" b="1" dirty="0"/>
              <a:t>Sursa 1</a:t>
            </a:r>
            <a:r>
              <a:rPr lang="ro-RO" sz="1100" dirty="0"/>
              <a:t>: concentrații PM2.5 măsurate la B12</a:t>
            </a:r>
            <a:endParaRPr lang="en-US" sz="1100" b="1" dirty="0"/>
          </a:p>
          <a:p>
            <a:pPr lvl="0"/>
            <a:r>
              <a:rPr lang="ro-RO" sz="1100" b="1" dirty="0"/>
              <a:t>Sursa 2: </a:t>
            </a:r>
            <a:r>
              <a:rPr lang="ro-RO" sz="1100" dirty="0"/>
              <a:t>temperatură medie la 2 m și viteză medie a vântului la 10 m, din Open-Meteo, pentru coordonatele stației B12.</a:t>
            </a:r>
            <a:endParaRPr lang="en-US" sz="1100" dirty="0"/>
          </a:p>
          <a:p>
            <a:pPr lvl="0"/>
            <a:endParaRPr lang="en-US" sz="1100" dirty="0"/>
          </a:p>
          <a:p>
            <a:pPr lvl="0"/>
            <a:r>
              <a:rPr lang="ro-RO" sz="1100" b="1" dirty="0"/>
              <a:t>Pasul de timp:</a:t>
            </a:r>
            <a:r>
              <a:rPr lang="en-US" sz="1100" dirty="0" err="1"/>
              <a:t>zilnic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100" b="1" dirty="0">
                <a:solidFill>
                  <a:srgbClr val="1B2A41"/>
                </a:solidFill>
              </a:rPr>
              <a:t>Cui îi </a:t>
            </a:r>
            <a:r>
              <a:rPr lang="en-US" sz="1100" b="1" dirty="0" err="1">
                <a:solidFill>
                  <a:srgbClr val="1B2A41"/>
                </a:solidFill>
              </a:rPr>
              <a:t>folosește</a:t>
            </a:r>
            <a:r>
              <a:rPr lang="en-US" sz="1100" b="1" dirty="0">
                <a:solidFill>
                  <a:srgbClr val="1B2A41"/>
                </a:solidFill>
              </a:rPr>
              <a:t> </a:t>
            </a:r>
            <a:r>
              <a:rPr lang="en-US" sz="1100" b="1" dirty="0" err="1">
                <a:solidFill>
                  <a:srgbClr val="1B2A41"/>
                </a:solidFill>
              </a:rPr>
              <a:t>răspunsul</a:t>
            </a:r>
            <a:r>
              <a:rPr lang="en-US" sz="1100" b="1" dirty="0">
                <a:solidFill>
                  <a:srgbClr val="1B2A41"/>
                </a:solidFill>
              </a:rPr>
              <a:t>: </a:t>
            </a:r>
            <a:r>
              <a:rPr lang="en-US" sz="1100" dirty="0" err="1">
                <a:solidFill>
                  <a:srgbClr val="1B2A41"/>
                </a:solidFill>
              </a:rPr>
              <a:t>Rezultatele</a:t>
            </a:r>
            <a:r>
              <a:rPr lang="en-US" sz="1100" dirty="0">
                <a:solidFill>
                  <a:srgbClr val="1B2A41"/>
                </a:solidFill>
              </a:rPr>
              <a:t> pot </a:t>
            </a:r>
            <a:r>
              <a:rPr lang="en-US" sz="1100" dirty="0" err="1">
                <a:solidFill>
                  <a:srgbClr val="1B2A41"/>
                </a:solidFill>
              </a:rPr>
              <a:t>ajuta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specialiștii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în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calitatea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aerului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să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înțeleagă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mai</a:t>
            </a:r>
            <a:r>
              <a:rPr lang="en-US" sz="1100" dirty="0">
                <a:solidFill>
                  <a:srgbClr val="1B2A41"/>
                </a:solidFill>
              </a:rPr>
              <a:t> bine </a:t>
            </a:r>
            <a:r>
              <a:rPr lang="en-US" sz="1100" dirty="0" err="1">
                <a:solidFill>
                  <a:srgbClr val="1B2A41"/>
                </a:solidFill>
              </a:rPr>
              <a:t>legătura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dintre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condițiile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meteorologice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și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concentrațiile</a:t>
            </a:r>
            <a:r>
              <a:rPr lang="en-US" sz="1100" dirty="0">
                <a:solidFill>
                  <a:srgbClr val="1B2A41"/>
                </a:solidFill>
              </a:rPr>
              <a:t> de PM2.5.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100" b="1" dirty="0">
                <a:solidFill>
                  <a:srgbClr val="1B2A41"/>
                </a:solidFill>
              </a:rPr>
              <a:t>Unde am </a:t>
            </a:r>
            <a:r>
              <a:rPr lang="en-US" sz="1100" b="1" dirty="0" err="1">
                <a:solidFill>
                  <a:srgbClr val="1B2A41"/>
                </a:solidFill>
              </a:rPr>
              <a:t>ajuns</a:t>
            </a:r>
            <a:endParaRPr lang="en-US" sz="1100" b="1" dirty="0">
              <a:solidFill>
                <a:srgbClr val="1B2A41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6B7684"/>
                </a:solidFill>
              </a:rPr>
              <a:t>Etapa </a:t>
            </a:r>
            <a:r>
              <a:rPr lang="en-US" sz="1100" dirty="0" err="1">
                <a:solidFill>
                  <a:srgbClr val="6B7684"/>
                </a:solidFill>
              </a:rPr>
              <a:t>curentă</a:t>
            </a:r>
            <a:r>
              <a:rPr lang="en-US" sz="1100" dirty="0">
                <a:solidFill>
                  <a:srgbClr val="6B7684"/>
                </a:solidFill>
              </a:rPr>
              <a:t>: </a:t>
            </a:r>
            <a:r>
              <a:rPr lang="en-US" sz="1100" dirty="0" err="1">
                <a:solidFill>
                  <a:srgbClr val="6B7684"/>
                </a:solidFill>
              </a:rPr>
              <a:t>fenomen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și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surse</a:t>
            </a:r>
            <a:r>
              <a:rPr lang="en-US" sz="1100" dirty="0">
                <a:solidFill>
                  <a:srgbClr val="6B7684"/>
                </a:solidFill>
              </a:rPr>
              <a:t> (CP0)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100" dirty="0" err="1">
                <a:solidFill>
                  <a:srgbClr val="6B7684"/>
                </a:solidFill>
              </a:rPr>
              <a:t>Făcut</a:t>
            </a:r>
            <a:r>
              <a:rPr lang="en-US" sz="1100" dirty="0">
                <a:solidFill>
                  <a:srgbClr val="6B7684"/>
                </a:solidFill>
              </a:rPr>
              <a:t>: </a:t>
            </a:r>
            <a:r>
              <a:rPr lang="en-US" sz="1100" dirty="0" err="1">
                <a:solidFill>
                  <a:srgbClr val="6B7684"/>
                </a:solidFill>
              </a:rPr>
              <a:t>unitate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aleasă</a:t>
            </a:r>
            <a:r>
              <a:rPr lang="en-US" sz="1100" dirty="0">
                <a:solidFill>
                  <a:srgbClr val="6B7684"/>
                </a:solidFill>
              </a:rPr>
              <a:t> (U12); 2 </a:t>
            </a:r>
            <a:r>
              <a:rPr lang="en-US" sz="1100" dirty="0" err="1">
                <a:solidFill>
                  <a:srgbClr val="6B7684"/>
                </a:solidFill>
              </a:rPr>
              <a:t>surse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complementare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identificate</a:t>
            </a:r>
            <a:r>
              <a:rPr lang="en-US" sz="1100" dirty="0">
                <a:solidFill>
                  <a:srgbClr val="6B7684"/>
                </a:solidFill>
              </a:rPr>
              <a:t>; </a:t>
            </a:r>
            <a:r>
              <a:rPr lang="en-US" sz="1100" dirty="0" err="1">
                <a:solidFill>
                  <a:srgbClr val="6B7684"/>
                </a:solidFill>
              </a:rPr>
              <a:t>întrebare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formulată</a:t>
            </a:r>
            <a:r>
              <a:rPr lang="en-US" sz="1100" dirty="0">
                <a:solidFill>
                  <a:srgbClr val="6B7684"/>
                </a:solidFill>
              </a:rPr>
              <a:t>; 2 </a:t>
            </a:r>
            <a:r>
              <a:rPr lang="en-US" sz="1100" dirty="0" err="1">
                <a:solidFill>
                  <a:srgbClr val="6B7684"/>
                </a:solidFill>
              </a:rPr>
              <a:t>articole-ancoră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selectate</a:t>
            </a:r>
            <a:r>
              <a:rPr lang="en-US" sz="1100" dirty="0">
                <a:solidFill>
                  <a:srgbClr val="6B7684"/>
                </a:solidFill>
              </a:rPr>
              <a:t>.</a:t>
            </a:r>
            <a:endParaRPr lang="en-US" sz="1200" dirty="0"/>
          </a:p>
          <a:p>
            <a:r>
              <a:rPr lang="en-US" sz="1100" dirty="0">
                <a:solidFill>
                  <a:srgbClr val="6B7684"/>
                </a:solidFill>
              </a:rPr>
              <a:t>Ce am </a:t>
            </a:r>
            <a:r>
              <a:rPr lang="en-US" sz="1100" dirty="0" err="1">
                <a:solidFill>
                  <a:srgbClr val="6B7684"/>
                </a:solidFill>
              </a:rPr>
              <a:t>schimbat</a:t>
            </a:r>
            <a:r>
              <a:rPr lang="en-US" sz="1100" dirty="0">
                <a:solidFill>
                  <a:srgbClr val="6B7684"/>
                </a:solidFill>
              </a:rPr>
              <a:t> </a:t>
            </a:r>
            <a:r>
              <a:rPr lang="en-US" sz="1100" dirty="0" err="1">
                <a:solidFill>
                  <a:srgbClr val="6B7684"/>
                </a:solidFill>
              </a:rPr>
              <a:t>față</a:t>
            </a:r>
            <a:r>
              <a:rPr lang="en-US" sz="1100" dirty="0">
                <a:solidFill>
                  <a:srgbClr val="6B7684"/>
                </a:solidFill>
              </a:rPr>
              <a:t> de plan: </a:t>
            </a:r>
            <a:r>
              <a:rPr lang="en-US" sz="1100" dirty="0" err="1">
                <a:solidFill>
                  <a:srgbClr val="6B7684"/>
                </a:solidFill>
              </a:rPr>
              <a:t>nimic</a:t>
            </a:r>
            <a:r>
              <a:rPr lang="en-US" sz="1100" dirty="0">
                <a:solidFill>
                  <a:srgbClr val="6B7684"/>
                </a:solidFill>
              </a:rPr>
              <a:t>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DOVADA ETAPEI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/>
              <a:t>PM2.5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datele</a:t>
            </a:r>
            <a:r>
              <a:rPr lang="en-US" sz="1800" dirty="0"/>
              <a:t> </a:t>
            </a:r>
            <a:r>
              <a:rPr lang="en-US" sz="1800" dirty="0" err="1"/>
              <a:t>meteo</a:t>
            </a:r>
            <a:r>
              <a:rPr lang="en-US" sz="1800" dirty="0"/>
              <a:t> </a:t>
            </a:r>
            <a:r>
              <a:rPr lang="en-US" sz="1800" dirty="0" err="1"/>
              <a:t>vor</a:t>
            </a:r>
            <a:r>
              <a:rPr lang="en-US" sz="1800" dirty="0"/>
              <a:t> fi </a:t>
            </a:r>
            <a:r>
              <a:rPr lang="en-US" sz="1800" dirty="0" err="1"/>
              <a:t>aliniate</a:t>
            </a:r>
            <a:r>
              <a:rPr lang="en-US" sz="1800" dirty="0"/>
              <a:t> pe </a:t>
            </a:r>
            <a:r>
              <a:rPr lang="en-US" sz="1800" dirty="0" err="1"/>
              <a:t>zile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statia</a:t>
            </a:r>
            <a:r>
              <a:rPr lang="en-US" sz="1800" dirty="0"/>
              <a:t> B12( </a:t>
            </a:r>
            <a:r>
              <a:rPr lang="en-US" sz="1800" dirty="0" err="1"/>
              <a:t>Bucuresti</a:t>
            </a:r>
            <a:r>
              <a:rPr lang="en-US" sz="1800" dirty="0"/>
              <a:t>)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120640" cy="228600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" name="Text 3"/>
          <p:cNvSpPr txBox="1"/>
          <p:nvPr/>
        </p:nvSpPr>
        <p:spPr>
          <a:xfrm>
            <a:off x="731520" y="1632646"/>
            <a:ext cx="4754880" cy="2834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684"/>
                </a:solidFill>
              </a:rPr>
              <a:t> 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46304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o-RO" sz="1200" dirty="0"/>
              <a:t>Roșianu, A.-M., </a:t>
            </a:r>
            <a:r>
              <a:rPr lang="ro-RO" sz="1200" dirty="0" err="1"/>
              <a:t>Leru</a:t>
            </a:r>
            <a:r>
              <a:rPr lang="ro-RO" sz="1200" dirty="0"/>
              <a:t>, P. M., Ștefan, S., Iorga, G., &amp; </a:t>
            </a:r>
            <a:r>
              <a:rPr lang="ro-RO" sz="1200" dirty="0" err="1"/>
              <a:t>Mărmureanu</a:t>
            </a:r>
            <a:r>
              <a:rPr lang="ro-RO" sz="1200" dirty="0"/>
              <a:t>, L. (2022). </a:t>
            </a:r>
            <a:r>
              <a:rPr lang="ro-RO" sz="1200" dirty="0" err="1"/>
              <a:t>Six-year</a:t>
            </a:r>
            <a:r>
              <a:rPr lang="ro-RO" sz="1200" dirty="0"/>
              <a:t> monitoring of </a:t>
            </a:r>
            <a:r>
              <a:rPr lang="ro-RO" sz="1200" dirty="0" err="1"/>
              <a:t>atmospheric</a:t>
            </a:r>
            <a:r>
              <a:rPr lang="ro-RO" sz="1200" dirty="0"/>
              <a:t> </a:t>
            </a:r>
            <a:r>
              <a:rPr lang="ro-RO" sz="1200" dirty="0" err="1"/>
              <a:t>pollen</a:t>
            </a:r>
            <a:r>
              <a:rPr lang="ro-RO" sz="1200" dirty="0"/>
              <a:t> </a:t>
            </a:r>
            <a:r>
              <a:rPr lang="ro-RO" sz="1200" dirty="0" err="1"/>
              <a:t>and</a:t>
            </a:r>
            <a:r>
              <a:rPr lang="ro-RO" sz="1200" dirty="0"/>
              <a:t> major </a:t>
            </a:r>
            <a:r>
              <a:rPr lang="ro-RO" sz="1200" dirty="0" err="1"/>
              <a:t>air</a:t>
            </a:r>
            <a:r>
              <a:rPr lang="ro-RO" sz="1200" dirty="0"/>
              <a:t> </a:t>
            </a:r>
            <a:r>
              <a:rPr lang="ro-RO" sz="1200" dirty="0" err="1"/>
              <a:t>pollutant</a:t>
            </a:r>
            <a:r>
              <a:rPr lang="ro-RO" sz="1200" dirty="0"/>
              <a:t> </a:t>
            </a:r>
            <a:r>
              <a:rPr lang="ro-RO" sz="1200" dirty="0" err="1"/>
              <a:t>concentrations</a:t>
            </a:r>
            <a:r>
              <a:rPr lang="ro-RO" sz="1200" dirty="0"/>
              <a:t> in </a:t>
            </a:r>
            <a:r>
              <a:rPr lang="ro-RO" sz="1200" dirty="0" err="1"/>
              <a:t>relation</a:t>
            </a:r>
            <a:r>
              <a:rPr lang="ro-RO" sz="1200" dirty="0"/>
              <a:t> </a:t>
            </a:r>
            <a:r>
              <a:rPr lang="ro-RO" sz="1200" dirty="0" err="1"/>
              <a:t>with</a:t>
            </a:r>
            <a:r>
              <a:rPr lang="ro-RO" sz="1200" dirty="0"/>
              <a:t> </a:t>
            </a:r>
            <a:r>
              <a:rPr lang="ro-RO" sz="1200" dirty="0" err="1"/>
              <a:t>meteorological</a:t>
            </a:r>
            <a:r>
              <a:rPr lang="ro-RO" sz="1200" dirty="0"/>
              <a:t> </a:t>
            </a:r>
            <a:r>
              <a:rPr lang="ro-RO" sz="1200" dirty="0" err="1"/>
              <a:t>factors</a:t>
            </a:r>
            <a:r>
              <a:rPr lang="ro-RO" sz="1200" dirty="0"/>
              <a:t> in </a:t>
            </a:r>
            <a:r>
              <a:rPr lang="ro-RO" sz="1200" dirty="0" err="1"/>
              <a:t>Bucharest</a:t>
            </a:r>
            <a:r>
              <a:rPr lang="ro-RO" sz="1200" dirty="0"/>
              <a:t>, Romania. </a:t>
            </a:r>
            <a:r>
              <a:rPr lang="ro-RO" sz="1200" i="1" dirty="0"/>
              <a:t>Romanian </a:t>
            </a:r>
            <a:r>
              <a:rPr lang="ro-RO" sz="1200" i="1" dirty="0" err="1"/>
              <a:t>Reports</a:t>
            </a:r>
            <a:r>
              <a:rPr lang="ro-RO" sz="1200" i="1" dirty="0"/>
              <a:t> in </a:t>
            </a:r>
            <a:r>
              <a:rPr lang="ro-RO" sz="1200" i="1" dirty="0" err="1"/>
              <a:t>Physics</a:t>
            </a:r>
            <a:r>
              <a:rPr lang="ro-RO" sz="1200" i="1" dirty="0"/>
              <a:t>, 74</a:t>
            </a:r>
            <a:r>
              <a:rPr lang="ro-RO" sz="1200" dirty="0"/>
              <a:t>, </a:t>
            </a:r>
            <a:r>
              <a:rPr lang="ro-RO" sz="1200" dirty="0" err="1"/>
              <a:t>Article</a:t>
            </a:r>
            <a:r>
              <a:rPr lang="ro-RO" sz="1200" dirty="0"/>
              <a:t> 703.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Hriscan</a:t>
            </a:r>
            <a:r>
              <a:rPr lang="en-US" sz="1200" dirty="0"/>
              <a:t>, T.; Chirita, S.; Burcea, M.; </a:t>
            </a:r>
            <a:r>
              <a:rPr lang="en-US" sz="1200" dirty="0" err="1"/>
              <a:t>Calcan</a:t>
            </a:r>
            <a:r>
              <a:rPr lang="en-US" sz="1200" dirty="0"/>
              <a:t>, A.; Corbu, M.; Iorga, G. Meteorological Characteristics Associated with Air Pollution in Bucharest Greater Area, Romania. Environ. Sci. Proc. 2021, 4, 22. https://doi.org/10.3390/ecas2020-08128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386407" y="4585273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0" name="Eticheta articole">
            <a:extLst>
              <a:ext uri="{FF2B5EF4-FFF2-40B4-BE49-F238E27FC236}">
                <a16:creationId xmlns:a16="http://schemas.microsoft.com/office/drawing/2014/main" id="{667231E1-B924-8A40-D6E4-B5342CF83823}"/>
              </a:ext>
            </a:extLst>
          </p:cNvPr>
          <p:cNvSpPr txBox="1"/>
          <p:nvPr/>
        </p:nvSpPr>
        <p:spPr>
          <a:xfrm>
            <a:off x="5998843" y="1246554"/>
            <a:ext cx="270891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spcAft>
                <a:spcPts val="0"/>
              </a:spcAft>
              <a:buNone/>
            </a:pPr>
            <a:r>
              <a:rPr lang="ro-RO" sz="1100" b="1" dirty="0">
                <a:solidFill>
                  <a:srgbClr val="1B2A41"/>
                </a:solidFill>
              </a:rPr>
              <a:t>Articole-ancoră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5BA6F2C0-821B-73AE-A9E4-9C8D3682A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538" y="1645921"/>
            <a:ext cx="2957788" cy="1038286"/>
          </a:xfrm>
          <a:prstGeom prst="rect">
            <a:avLst/>
          </a:prstGeom>
        </p:spPr>
      </p:pic>
      <p:sp>
        <p:nvSpPr>
          <p:cNvPr id="13" name="CasetăText 12">
            <a:extLst>
              <a:ext uri="{FF2B5EF4-FFF2-40B4-BE49-F238E27FC236}">
                <a16:creationId xmlns:a16="http://schemas.microsoft.com/office/drawing/2014/main" id="{3CB52850-B6A9-9289-D406-D96D6FFA88FC}"/>
              </a:ext>
            </a:extLst>
          </p:cNvPr>
          <p:cNvSpPr txBox="1"/>
          <p:nvPr/>
        </p:nvSpPr>
        <p:spPr>
          <a:xfrm>
            <a:off x="587418" y="1610560"/>
            <a:ext cx="2011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100" dirty="0">
                <a:solidFill>
                  <a:srgbClr val="1B2A41"/>
                </a:solidFill>
              </a:rPr>
              <a:t>Open-Meteo </a:t>
            </a:r>
            <a:r>
              <a:rPr lang="ro-RO" sz="1100" dirty="0" err="1">
                <a:solidFill>
                  <a:srgbClr val="1B2A41"/>
                </a:solidFill>
              </a:rPr>
              <a:t>Historical</a:t>
            </a:r>
            <a:r>
              <a:rPr lang="ro-RO" sz="1100" dirty="0">
                <a:solidFill>
                  <a:srgbClr val="1B2A41"/>
                </a:solidFill>
              </a:rPr>
              <a:t> </a:t>
            </a:r>
            <a:r>
              <a:rPr lang="ro-RO" sz="1100" dirty="0" err="1">
                <a:solidFill>
                  <a:srgbClr val="1B2A41"/>
                </a:solidFill>
              </a:rPr>
              <a:t>Weather</a:t>
            </a:r>
            <a:r>
              <a:rPr lang="ro-RO" sz="1100" dirty="0">
                <a:solidFill>
                  <a:srgbClr val="1B2A41"/>
                </a:solidFill>
              </a:rPr>
              <a:t> API</a:t>
            </a:r>
          </a:p>
          <a:p>
            <a:endParaRPr lang="ro-RO" dirty="0"/>
          </a:p>
        </p:txBody>
      </p:sp>
      <p:pic>
        <p:nvPicPr>
          <p:cNvPr id="15" name="Imagine 14">
            <a:extLst>
              <a:ext uri="{FF2B5EF4-FFF2-40B4-BE49-F238E27FC236}">
                <a16:creationId xmlns:a16="http://schemas.microsoft.com/office/drawing/2014/main" id="{64436C22-8A43-7C21-35AC-FEC16BEDC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538" y="2743200"/>
            <a:ext cx="2957788" cy="1143000"/>
          </a:xfrm>
          <a:prstGeom prst="rect">
            <a:avLst/>
          </a:prstGeom>
        </p:spPr>
      </p:pic>
      <p:sp>
        <p:nvSpPr>
          <p:cNvPr id="16" name="CasetăText 15">
            <a:extLst>
              <a:ext uri="{FF2B5EF4-FFF2-40B4-BE49-F238E27FC236}">
                <a16:creationId xmlns:a16="http://schemas.microsoft.com/office/drawing/2014/main" id="{94ACB06D-81B9-8166-B313-20B5BFC01909}"/>
              </a:ext>
            </a:extLst>
          </p:cNvPr>
          <p:cNvSpPr txBox="1"/>
          <p:nvPr/>
        </p:nvSpPr>
        <p:spPr>
          <a:xfrm>
            <a:off x="587418" y="2871044"/>
            <a:ext cx="17551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B2A41"/>
                </a:solidFill>
              </a:rPr>
              <a:t>C</a:t>
            </a:r>
            <a:r>
              <a:rPr lang="ro-RO" sz="1200" dirty="0">
                <a:solidFill>
                  <a:srgbClr val="1B2A41"/>
                </a:solidFill>
              </a:rPr>
              <a:t>alitateaer.ro (RNMCA)</a:t>
            </a:r>
          </a:p>
          <a:p>
            <a:endParaRPr lang="ro-R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BLOCAJE ȘI URMĂTOARELE DOUĂ SĂPTĂMÂNI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Riscuri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și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plan </a:t>
            </a:r>
            <a:r>
              <a:rPr lang="en-US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până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 CP1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100" b="1" dirty="0" err="1">
                <a:solidFill>
                  <a:srgbClr val="1B2A41"/>
                </a:solidFill>
              </a:rPr>
              <a:t>Blocaje</a:t>
            </a:r>
            <a:r>
              <a:rPr lang="en-US" sz="1100" b="1" dirty="0">
                <a:solidFill>
                  <a:srgbClr val="1B2A41"/>
                </a:solidFill>
              </a:rPr>
              <a:t>: </a:t>
            </a:r>
            <a:r>
              <a:rPr lang="ro-RO" sz="1100" dirty="0"/>
              <a:t>Riscul principal este ca datele din surse diferite să nu fie suficient de compatibile pentru a evidenția relații relevante → voi verifica și compara datele înainte de analiză.</a:t>
            </a:r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31920" cy="2468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 txBox="1"/>
          <p:nvPr/>
        </p:nvSpPr>
        <p:spPr>
          <a:xfrm>
            <a:off x="4757831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o-RO" sz="1100" dirty="0">
                <a:solidFill>
                  <a:schemeClr val="bg1"/>
                </a:solidFill>
              </a:rPr>
              <a:t>La CP1 arăt: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ro-RO" sz="1100" dirty="0">
                <a:solidFill>
                  <a:schemeClr val="bg1"/>
                </a:solidFill>
              </a:rPr>
              <a:t>Inventarul seturilor de date pentru stația B-12, București , tabelul variabilelor selectate și o primă vizualizare a evoluției zilnice a PM2.5.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ro-RO" sz="1100" dirty="0">
                <a:solidFill>
                  <a:schemeClr val="bg1"/>
                </a:solidFill>
              </a:rPr>
              <a:t>Analiza pe care o pregătesc: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ro-RO" sz="1100" dirty="0">
                <a:solidFill>
                  <a:schemeClr val="bg1"/>
                </a:solidFill>
              </a:rPr>
              <a:t>Verific perioada comună și numărul de observații valide pentru PM2.5, temperatura medie și viteza medie a vântului. Compar apoi evoluția orară și zilnică pentru a vedea ce pas de timp evidențiază mai clar episoadele de poluare.</a:t>
            </a:r>
            <a:endParaRPr lang="en-US" sz="1100" dirty="0">
              <a:solidFill>
                <a:schemeClr val="bg1"/>
              </a:solidFill>
            </a:endParaRPr>
          </a:p>
          <a:p>
            <a:r>
              <a:rPr lang="ro-RO" sz="1100" dirty="0">
                <a:solidFill>
                  <a:schemeClr val="bg1"/>
                </a:solidFill>
              </a:rPr>
              <a:t>Secțiunea de articol pe care o scriu: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ro-RO" sz="1100" dirty="0">
                <a:solidFill>
                  <a:schemeClr val="bg1"/>
                </a:solidFill>
              </a:rPr>
              <a:t>Descrierea datelor și motivația cercetării.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0080" y="4640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454</Words>
  <Application>Microsoft Office PowerPoint</Application>
  <PresentationFormat>Expunere pe ecran (16:9)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</vt:i4>
      </vt:variant>
    </vt:vector>
  </HeadingPairs>
  <TitlesOfParts>
    <vt:vector size="6" baseType="lpstr">
      <vt:lpstr>Arial</vt:lpstr>
      <vt:lpstr>Cambria</vt:lpstr>
      <vt:lpstr>MEDE GeoSense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Ana-Maria-Larisa LIȚĂ (124977)</cp:lastModifiedBy>
  <cp:revision>5</cp:revision>
  <dcterms:created xsi:type="dcterms:W3CDTF">2026-10-07T14:41:20Z</dcterms:created>
  <dcterms:modified xsi:type="dcterms:W3CDTF">2026-10-13T16:31:56Z</dcterms:modified>
</cp:coreProperties>
</file>