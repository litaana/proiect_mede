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Șablon" id="{A400C06E-735C-BC23-DC41-0A137D6A8A0E}">
          <p14:sldIdLst>
            <p14:sldId id="256"/>
            <p14:sldId id="257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811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120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457200"/>
            <a:ext cx="804672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900" kern="0" spc="2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9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97180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rgbClr val="E9E3D6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  <p:sp>
        <p:nvSpPr>
          <p:cNvPr id="5" name="Text 0"/>
          <p:cNvSpPr/>
          <p:nvPr/>
        </p:nvSpPr>
        <p:spPr>
          <a:xfrm>
            <a:off x="54864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6A3"/>
                </a:solidFill>
              </a:rPr>
              <a:t>Săptămâna 1 · GeoSense Lab, ETTI–UNSTPB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1B2A4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50" dirty="0">
                <a:solidFill>
                  <a:srgbClr val="3A4451"/>
                </a:solidFill>
              </a:defRPr>
            </a:lvl1pPr>
          </a:lstStyle>
          <a:p>
            <a:pPr marL="0" indent="0">
              <a:buNone/>
            </a:pPr>
            <a:endParaRPr lang="en-US" sz="12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C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dirty="0">
                <a:solidFill>
                  <a:srgbClr val="FFFFFF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96012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500" dirty="0">
                <a:solidFill>
                  <a:srgbClr val="C8702A"/>
                </a:solidFill>
              </a:defRPr>
            </a:lvl1pPr>
          </a:lstStyle>
          <a:p>
            <a:pPr marL="0" indent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taAna/Proiect_MED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000" b="0">
                <a:solidFill>
                  <a:srgbClr val="1D2328"/>
                </a:solidFill>
                <a:latin typeface="Aptos"/>
              </a:rPr>
              <a:t>MEDE · CP1 · ALINIEREA DATELOR · 2026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36841" y="868680"/>
            <a:ext cx="8046720" cy="54864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/>
          <a:lstStyle/>
          <a:p>
            <a:pPr>
              <a:spcAft>
                <a:spcPts val="300"/>
              </a:spcAft>
            </a:pP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</a:t>
            </a:r>
            <a:r>
              <a:rPr lang="ro-RO" sz="2400" dirty="0" err="1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ță</a:t>
            </a:r>
            <a:r>
              <a:rPr lang="ro-RO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Ana-Maria-Larisa</a:t>
            </a: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</a:t>
            </a:r>
            <a:r>
              <a:rPr lang="ro-RO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U12</a:t>
            </a:r>
            <a:r>
              <a:rPr lang="en-US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· </a:t>
            </a:r>
            <a:r>
              <a:rPr lang="it-IT" sz="2400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Senzorul de calitate a aerului (senzor × zi)</a:t>
            </a:r>
            <a:endParaRPr lang="en-US" sz="2400" dirty="0"/>
          </a:p>
          <a:p>
            <a:pPr marL="0" indent="0">
              <a:spcAft>
                <a:spcPts val="300"/>
              </a:spcAft>
              <a:buNone/>
            </a:pP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840480" cy="11887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sz="1400" b="1">
                <a:solidFill>
                  <a:srgbClr val="1D2328"/>
                </a:solidFill>
                <a:latin typeface="Aptos"/>
              </a:rPr>
              <a:t>Întrebarea mea</a:t>
            </a:r>
            <a:endParaRPr lang="en-US" sz="1100" dirty="0"/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D2328"/>
                </a:solidFill>
                <a:latin typeface="Aptos"/>
              </a:rPr>
              <a:t>Cum variază concentrația medie zilnică de PM2.5 la stația B-12 din București în funcție de temperatura medie și viteza medie a vântului?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548640" y="2834640"/>
            <a:ext cx="3840480" cy="10972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sz="1300" b="1">
                <a:solidFill>
                  <a:srgbClr val="1D2328"/>
                </a:solidFill>
                <a:latin typeface="Aptos"/>
              </a:rPr>
              <a:t>Unitatea și sursele</a:t>
            </a:r>
            <a:endParaRPr lang="en-US" sz="1100" dirty="0"/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D2328"/>
                </a:solidFill>
                <a:latin typeface="Aptos"/>
              </a:rPr>
              <a:t>Stație × zi (B-12) · RNMCA: PM2.5 (µg/m³) + Open-Meteo Historical Weather: temperatură (°C), vânt (km/h). Date orare agregate zilnic.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548640" y="3749040"/>
            <a:ext cx="3840480" cy="82296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sz="1300" b="1" dirty="0">
                <a:solidFill>
                  <a:srgbClr val="1D2328"/>
                </a:solidFill>
                <a:latin typeface="Aptos"/>
              </a:rPr>
              <a:t>Cui </a:t>
            </a:r>
            <a:r>
              <a:rPr sz="1300" b="1" dirty="0" err="1">
                <a:solidFill>
                  <a:srgbClr val="1D2328"/>
                </a:solidFill>
                <a:latin typeface="Aptos"/>
              </a:rPr>
              <a:t>îi</a:t>
            </a:r>
            <a:r>
              <a:rPr sz="1300" b="1" dirty="0">
                <a:solidFill>
                  <a:srgbClr val="1D2328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D2328"/>
                </a:solidFill>
                <a:latin typeface="Aptos"/>
              </a:rPr>
              <a:t>folosește</a:t>
            </a:r>
            <a:r>
              <a:rPr sz="1300" b="1" dirty="0">
                <a:solidFill>
                  <a:srgbClr val="1D2328"/>
                </a:solidFill>
                <a:latin typeface="Aptos"/>
              </a:rPr>
              <a:t> </a:t>
            </a:r>
            <a:r>
              <a:rPr sz="1300" b="1" dirty="0" err="1">
                <a:solidFill>
                  <a:srgbClr val="1D2328"/>
                </a:solidFill>
                <a:latin typeface="Aptos"/>
              </a:rPr>
              <a:t>răspunsul</a:t>
            </a:r>
            <a:endParaRPr lang="en-US" sz="1100" dirty="0"/>
          </a:p>
          <a:p>
            <a:pPr>
              <a:spcAft>
                <a:spcPts val="600"/>
              </a:spcAft>
            </a:pPr>
            <a:r>
              <a:rPr lang="en-US" sz="1100" dirty="0" err="1">
                <a:solidFill>
                  <a:srgbClr val="1B2A41"/>
                </a:solidFill>
              </a:rPr>
              <a:t>Rezultatele</a:t>
            </a:r>
            <a:r>
              <a:rPr lang="en-US" sz="1100" dirty="0">
                <a:solidFill>
                  <a:srgbClr val="1B2A41"/>
                </a:solidFill>
              </a:rPr>
              <a:t> pot </a:t>
            </a:r>
            <a:r>
              <a:rPr lang="en-US" sz="1100" dirty="0" err="1">
                <a:solidFill>
                  <a:srgbClr val="1B2A41"/>
                </a:solidFill>
              </a:rPr>
              <a:t>ajuta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specialiștii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în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calitatea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aerului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să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înțeleagă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mai</a:t>
            </a:r>
            <a:r>
              <a:rPr lang="en-US" sz="1100" dirty="0">
                <a:solidFill>
                  <a:srgbClr val="1B2A41"/>
                </a:solidFill>
              </a:rPr>
              <a:t> bine </a:t>
            </a:r>
            <a:r>
              <a:rPr lang="en-US" sz="1100" dirty="0" err="1">
                <a:solidFill>
                  <a:srgbClr val="1B2A41"/>
                </a:solidFill>
              </a:rPr>
              <a:t>legătura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dintre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condițiile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meteorologice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și</a:t>
            </a:r>
            <a:r>
              <a:rPr lang="en-US" sz="1100" dirty="0">
                <a:solidFill>
                  <a:srgbClr val="1B2A41"/>
                </a:solidFill>
              </a:rPr>
              <a:t> </a:t>
            </a:r>
            <a:r>
              <a:rPr lang="en-US" sz="1100" dirty="0" err="1">
                <a:solidFill>
                  <a:srgbClr val="1B2A41"/>
                </a:solidFill>
              </a:rPr>
              <a:t>concentrațiile</a:t>
            </a:r>
            <a:r>
              <a:rPr lang="en-US" sz="1100" dirty="0">
                <a:solidFill>
                  <a:srgbClr val="1B2A41"/>
                </a:solidFill>
              </a:rPr>
              <a:t> de PM2.5.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554480"/>
            <a:ext cx="3931920" cy="2194560"/>
          </a:xfrm>
          <a:prstGeom prst="rect">
            <a:avLst/>
          </a:prstGeom>
          <a:solidFill>
            <a:srgbClr val="E9E3D6"/>
          </a:solidFill>
          <a:ln w="12700">
            <a:solidFill>
              <a:srgbClr val="E9E3D6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8" name="Text 6"/>
          <p:cNvSpPr txBox="1"/>
          <p:nvPr/>
        </p:nvSpPr>
        <p:spPr>
          <a:xfrm>
            <a:off x="484632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sz="1300" b="1">
                <a:solidFill>
                  <a:srgbClr val="1D2328"/>
                </a:solidFill>
                <a:latin typeface="Aptos"/>
              </a:rPr>
              <a:t>Unde am ajuns</a:t>
            </a:r>
            <a:endParaRPr lang="en-US" sz="1100" dirty="0"/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D2328"/>
                </a:solidFill>
                <a:latin typeface="Aptos"/>
              </a:rPr>
              <a:t>Etapa curentă: CP1 — aliniere.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D2328"/>
                </a:solidFill>
                <a:latin typeface="Aptos"/>
              </a:rPr>
              <a:t>Realizat: două Data Card-uri; script Python testat; CSV-uri zilnice și raport de acoperire; selecție de 10 articole SOA.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D2328"/>
                </a:solidFill>
                <a:latin typeface="Aptos"/>
              </a:rPr>
              <a:t>Adaptare: conversia raportului RNMCA în XLSX și armonizarea fusului orar.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/>
          <a:lstStyle/>
          <a:p>
            <a:pPr marL="0" indent="0">
              <a:spcAft>
                <a:spcPts val="300"/>
              </a:spcAft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74320" y="109728"/>
            <a:ext cx="8595360" cy="2286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100" b="0" dirty="0">
                <a:solidFill>
                  <a:srgbClr val="1D2328"/>
                </a:solidFill>
                <a:latin typeface="Aptos"/>
              </a:rPr>
              <a:t>DOVADA ETAPEI · CP1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274320" y="338328"/>
            <a:ext cx="8595360" cy="41148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500" b="0">
                <a:solidFill>
                  <a:srgbClr val="1D2328"/>
                </a:solidFill>
                <a:latin typeface="Aptos"/>
              </a:rPr>
              <a:t>Două surse aliniate zilnic: 364 de zile, dintre care 340 complete pentru PM2.5</a:t>
            </a:r>
            <a:endParaRPr 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274320" y="804672"/>
            <a:ext cx="2194560" cy="1828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 b="1">
                <a:solidFill>
                  <a:srgbClr val="1D2328"/>
                </a:solidFill>
                <a:latin typeface="Aptos"/>
              </a:rPr>
              <a:t>Data Card pe scurt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987552"/>
          <a:ext cx="2148839" cy="2066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2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D2328"/>
                          </a:solidFill>
                          <a:latin typeface="Aptos"/>
                        </a:rPr>
                        <a:t>Indicator</a:t>
                      </a:r>
                    </a:p>
                  </a:txBody>
                  <a:tcPr marL="40000" marR="40000" marT="12000" marB="12000" anchor="ctr">
                    <a:solidFill>
                      <a:srgbClr val="E9E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1">
                          <a:solidFill>
                            <a:srgbClr val="1D2328"/>
                          </a:solidFill>
                          <a:latin typeface="Aptos"/>
                        </a:rPr>
                        <a:t>Rezultat</a:t>
                      </a:r>
                    </a:p>
                  </a:txBody>
                  <a:tcPr marL="40000" marR="40000" marT="12000" marB="12000" anchor="ctr">
                    <a:solidFill>
                      <a:srgbClr val="E9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D2328"/>
                          </a:solidFill>
                          <a:latin typeface="Aptos"/>
                        </a:rPr>
                        <a:t>RNMCA PM2.5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D2328"/>
                          </a:solidFill>
                          <a:latin typeface="Aptos"/>
                        </a:rPr>
                        <a:t>8.724 înreg. orare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D2328"/>
                          </a:solidFill>
                          <a:latin typeface="Aptos"/>
                        </a:rPr>
                        <a:t>Open-Meteo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D2328"/>
                          </a:solidFill>
                          <a:latin typeface="Aptos"/>
                        </a:rPr>
                        <a:t>8.736 înreg. orare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D2328"/>
                          </a:solidFill>
                          <a:latin typeface="Aptos"/>
                        </a:rPr>
                        <a:t>Zile aliniate (B-12 × zi)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D2328"/>
                          </a:solidFill>
                          <a:latin typeface="Aptos"/>
                        </a:rPr>
                        <a:t>364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D2328"/>
                          </a:solidFill>
                          <a:latin typeface="Aptos"/>
                        </a:rPr>
                        <a:t>Zile PM2.5 complete (24 h)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D2328"/>
                          </a:solidFill>
                          <a:latin typeface="Aptos"/>
                        </a:rPr>
                        <a:t>340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D2328"/>
                          </a:solidFill>
                          <a:latin typeface="Aptos"/>
                        </a:rPr>
                        <a:t>Zile PM2.5 incomplete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D2328"/>
                          </a:solidFill>
                          <a:latin typeface="Aptos"/>
                        </a:rPr>
                        <a:t>24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D2328"/>
                          </a:solidFill>
                          <a:latin typeface="Aptos"/>
                        </a:rPr>
                        <a:t>Valori orare PM2.5 lipsă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 b="0">
                          <a:solidFill>
                            <a:srgbClr val="1D2328"/>
                          </a:solidFill>
                          <a:latin typeface="Aptos"/>
                        </a:rPr>
                        <a:t>65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06040" y="804672"/>
            <a:ext cx="6217920" cy="182880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900" b="1">
                <a:solidFill>
                  <a:srgbClr val="1D2328"/>
                </a:solidFill>
                <a:latin typeface="Aptos"/>
              </a:rPr>
              <a:t>SOA — 10 articole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606040" y="987552"/>
          <a:ext cx="6263640" cy="3602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1D2328"/>
                          </a:solidFill>
                          <a:latin typeface="Aptos"/>
                        </a:rPr>
                        <a:t>Articol</a:t>
                      </a:r>
                    </a:p>
                  </a:txBody>
                  <a:tcPr marL="40000" marR="40000" marT="12000" marB="12000" anchor="ctr">
                    <a:solidFill>
                      <a:srgbClr val="E9E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1D2328"/>
                          </a:solidFill>
                          <a:latin typeface="Aptos"/>
                        </a:rPr>
                        <a:t>Date / sursă</a:t>
                      </a:r>
                    </a:p>
                  </a:txBody>
                  <a:tcPr marL="40000" marR="40000" marT="12000" marB="12000" anchor="ctr">
                    <a:solidFill>
                      <a:srgbClr val="E9E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1D2328"/>
                          </a:solidFill>
                          <a:latin typeface="Aptos"/>
                        </a:rPr>
                        <a:t>Metodă</a:t>
                      </a:r>
                    </a:p>
                  </a:txBody>
                  <a:tcPr marL="40000" marR="40000" marT="12000" marB="12000" anchor="ctr">
                    <a:solidFill>
                      <a:srgbClr val="E9E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1D2328"/>
                          </a:solidFill>
                          <a:latin typeface="Aptos"/>
                        </a:rPr>
                        <a:t>Metrică</a:t>
                      </a:r>
                    </a:p>
                  </a:txBody>
                  <a:tcPr marL="40000" marR="40000" marT="12000" marB="12000" anchor="ctr">
                    <a:solidFill>
                      <a:srgbClr val="E9E3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1">
                          <a:solidFill>
                            <a:srgbClr val="1D2328"/>
                          </a:solidFill>
                          <a:latin typeface="Aptos"/>
                        </a:rPr>
                        <a:t>Rezultat</a:t>
                      </a:r>
                    </a:p>
                  </a:txBody>
                  <a:tcPr marL="40000" marR="40000" marT="12000" marB="12000" anchor="ctr">
                    <a:solidFill>
                      <a:srgbClr val="E9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1. Hriscan et al. (2021)</a:t>
                      </a:r>
                    </a:p>
                    <a:p>
                      <a:r>
                        <a:rPr sz="550">
                          <a:solidFill>
                            <a:srgbClr val="555B61"/>
                          </a:solidFill>
                          <a:latin typeface="Aptos"/>
                        </a:rPr>
                        <a:t>DOI: 10.3390/ecas2020-08128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RNMCA, București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Analiză meteo; corelații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Indicatori eliminare aerosoli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Precipitațiile pot reduce particulele fine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2. Roșianu et al. (2022)</a:t>
                      </a:r>
                    </a:p>
                    <a:p>
                      <a:r>
                        <a:rPr sz="550">
                          <a:solidFill>
                            <a:srgbClr val="555B61"/>
                          </a:solidFill>
                          <a:latin typeface="Aptos"/>
                        </a:rPr>
                        <a:t>DOI neconfirmat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Poluanți + meteo, București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Corelații Spearman; sezonalitate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Coef. Spearman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Asocieri meteo variabile în timp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3. Yang et al. (2017)</a:t>
                      </a:r>
                    </a:p>
                    <a:p>
                      <a:r>
                        <a:rPr sz="550">
                          <a:solidFill>
                            <a:srgbClr val="555B61"/>
                          </a:solidFill>
                          <a:latin typeface="Aptos"/>
                        </a:rPr>
                        <a:t>DOI: 10.3390/ijerph14121510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68 orașe, China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Corelații sezoniere și regionale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Coef. de corelație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Vântul: adesea asociere negativă cu PM2.5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4. Olvera Alvarez et al. (2018)</a:t>
                      </a:r>
                    </a:p>
                    <a:p>
                      <a:r>
                        <a:rPr sz="550">
                          <a:solidFill>
                            <a:srgbClr val="555B61"/>
                          </a:solidFill>
                          <a:latin typeface="Aptos"/>
                        </a:rPr>
                        <a:t>DOI: 10.1016/j.atmosenv.2018.03.007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Stații El Paso, SUA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Modele cu efecte mixte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Corelații; semnificație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Vânt și temperatură scăzute ↔ PM2.5 ridicat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5. Huang et al. (2015)</a:t>
                      </a:r>
                    </a:p>
                    <a:p>
                      <a:r>
                        <a:rPr sz="550">
                          <a:solidFill>
                            <a:srgbClr val="555B61"/>
                          </a:solidFill>
                          <a:latin typeface="Aptos"/>
                        </a:rPr>
                        <a:t>DOI: 10.1371/journal.pone.0141642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PM2.5 + meteo, Beijing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Analiză spațiotemporală; lag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Coef. de corelație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Vântul din ziua precedentă este relevant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6. Nguyen et al. (2024)</a:t>
                      </a:r>
                    </a:p>
                    <a:p>
                      <a:r>
                        <a:rPr sz="550">
                          <a:solidFill>
                            <a:srgbClr val="555B61"/>
                          </a:solidFill>
                          <a:latin typeface="Aptos"/>
                        </a:rPr>
                        <a:t>DOI: 10.1016/j.jes.2023.07.020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8 provincii/orașe, Vietnam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Convergent Cross Mapping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Coeficient ρ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Relațiile diferă între anotimpuri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7. Yang et al. (2020)</a:t>
                      </a:r>
                    </a:p>
                    <a:p>
                      <a:r>
                        <a:rPr sz="550">
                          <a:solidFill>
                            <a:srgbClr val="555B61"/>
                          </a:solidFill>
                          <a:latin typeface="Aptos"/>
                        </a:rPr>
                        <a:t>DOI: 10.1038/s41598-020-65391-5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Poluanți + meteo, Shenyang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Pearson; path analysis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Coef. Pearson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Vântul: frecvent asociere negativă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8. Omokungbe et al. (2020)</a:t>
                      </a:r>
                    </a:p>
                    <a:p>
                      <a:r>
                        <a:rPr sz="550">
                          <a:solidFill>
                            <a:srgbClr val="555B61"/>
                          </a:solidFill>
                          <a:latin typeface="Aptos"/>
                        </a:rPr>
                        <a:t>DOI: 10.1016/j.heliyon.2020.e04207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5 locații semiurbane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Regresie liniară multiplă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R², RMSE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Temperatura și vântul explică parțial PM2.5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9. Zhao et al. (2018)</a:t>
                      </a:r>
                    </a:p>
                    <a:p>
                      <a:r>
                        <a:rPr sz="550">
                          <a:solidFill>
                            <a:srgbClr val="555B61"/>
                          </a:solidFill>
                          <a:latin typeface="Aptos"/>
                        </a:rPr>
                        <a:t>DOI: 10.1371/journal.pone.0201011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PM2.5 + meteo, Beijing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Regresie liniară multiplă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R²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Modelele sezoniere pot îmbunătăți estimările</a:t>
                      </a:r>
                    </a:p>
                  </a:txBody>
                  <a:tcPr marL="40000" marR="40000" marT="12000" marB="12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10. Saiohai et al. (2023)</a:t>
                      </a:r>
                    </a:p>
                    <a:p>
                      <a:r>
                        <a:rPr sz="550">
                          <a:solidFill>
                            <a:srgbClr val="555B61"/>
                          </a:solidFill>
                          <a:latin typeface="Aptos"/>
                        </a:rPr>
                        <a:t>DOI: 10.3390/atmos14030589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PM2.5 + meteo, 2015–2020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Corelații; modelare statistică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Pearson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00" b="0">
                          <a:solidFill>
                            <a:srgbClr val="1D2328"/>
                          </a:solidFill>
                          <a:latin typeface="Aptos"/>
                        </a:rPr>
                        <a:t>Asocieri negative slabe cu vântul și temperatura</a:t>
                      </a:r>
                    </a:p>
                  </a:txBody>
                  <a:tcPr marL="40000" marR="40000" marT="12000" marB="12000" anchor="ctr">
                    <a:solidFill>
                      <a:srgbClr val="F6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274320" y="3200400"/>
            <a:ext cx="2148840" cy="1371600"/>
          </a:xfrm>
          <a:prstGeom prst="rect">
            <a:avLst/>
          </a:prstGeom>
          <a:solidFill>
            <a:srgbClr val="E9E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0000" tIns="50000" rIns="70000" rtlCol="0" anchor="t"/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1D2328"/>
                </a:solidFill>
                <a:latin typeface="Aptos"/>
              </a:rPr>
              <a:t>Cum se verifică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1D2328"/>
                </a:solidFill>
                <a:latin typeface="Aptos"/>
              </a:rPr>
              <a:t>Repo: </a:t>
            </a:r>
            <a:r>
              <a:rPr sz="750" b="0">
                <a:solidFill>
                  <a:srgbClr val="1D2328"/>
                </a:solidFill>
                <a:latin typeface="Aptos"/>
                <a:hlinkClick r:id="rId3"/>
              </a:rPr>
              <a:t>github.com/LitaAna/Proiect_MEDE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1D2328"/>
                </a:solidFill>
                <a:latin typeface="Aptos"/>
              </a:rPr>
              <a:t>Pipeline-ul de încărcare rulează pentru toate sursele (RNMCA + Open-Meteo).</a:t>
            </a:r>
          </a:p>
          <a:p>
            <a:pPr algn="l">
              <a:spcAft>
                <a:spcPts val="200"/>
              </a:spcAft>
            </a:pPr>
            <a:r>
              <a:rPr sz="750" b="0">
                <a:solidFill>
                  <a:srgbClr val="1D2328"/>
                </a:solidFill>
                <a:latin typeface="Aptos"/>
              </a:rPr>
              <a:t>Livrabile CP1: CP1_&lt;cod&gt; + datacard_&lt;cod&gt;.md (fișă per sursă: proveniență, perioadă, rezoluție, unități, goluri, licență).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743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100" b="0">
                <a:solidFill>
                  <a:srgbClr val="1D2328"/>
                </a:solidFill>
                <a:latin typeface="Aptos"/>
              </a:rPr>
              <a:t>BLOCAJE ȘI URMĂTOARELE DOUĂ SĂPTĂMÂNI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sz="1800" b="0">
                <a:solidFill>
                  <a:srgbClr val="1D2328"/>
                </a:solidFill>
                <a:latin typeface="Aptos"/>
              </a:rPr>
              <a:t>De la alinierea datelor (CP1) la matricea de trăsături (CP2)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3840480" cy="274320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sz="1300" b="1">
                <a:solidFill>
                  <a:srgbClr val="1D2328"/>
                </a:solidFill>
                <a:latin typeface="Aptos"/>
              </a:rPr>
              <a:t>Blocaje / riscuri</a:t>
            </a:r>
            <a:endParaRPr lang="en-US" sz="1100" dirty="0"/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D2328"/>
                </a:solidFill>
                <a:latin typeface="Aptos"/>
              </a:rPr>
              <a:t>1. Formatul raportului RNMCA și orele 01–24 → conversie XLSX și script de parsare; de verificat convenția temporală.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D2328"/>
                </a:solidFill>
                <a:latin typeface="Aptos"/>
              </a:rPr>
              <a:t>2. Date PM2.5 lipsă / zile incomplete → raport de acoperire și set separat de zile valide.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1D2328"/>
                </a:solidFill>
                <a:latin typeface="Aptos"/>
              </a:rPr>
              <a:t>Risc CP2: pierderea de observații după filtrare; trebuie documentate criteriile.</a:t>
            </a:r>
          </a:p>
        </p:txBody>
      </p:sp>
      <p:sp>
        <p:nvSpPr>
          <p:cNvPr id="5" name="Shape 3"/>
          <p:cNvSpPr/>
          <p:nvPr/>
        </p:nvSpPr>
        <p:spPr>
          <a:xfrm>
            <a:off x="4663440" y="1554480"/>
            <a:ext cx="3931920" cy="2468880"/>
          </a:xfrm>
          <a:prstGeom prst="rect">
            <a:avLst/>
          </a:prstGeom>
          <a:solidFill>
            <a:srgbClr val="1B2A41"/>
          </a:solidFill>
          <a:ln w="12700">
            <a:solidFill>
              <a:srgbClr val="1B2A41"/>
            </a:solidFill>
            <a:prstDash val="solid"/>
          </a:ln>
        </p:spPr>
        <p:txBody>
          <a:bodyPr/>
          <a:lstStyle/>
          <a:p>
            <a:endParaRPr lang="en-RO"/>
          </a:p>
        </p:txBody>
      </p:sp>
      <p:sp>
        <p:nvSpPr>
          <p:cNvPr id="6" name="Text 4"/>
          <p:cNvSpPr txBox="1"/>
          <p:nvPr/>
        </p:nvSpPr>
        <p:spPr>
          <a:xfrm>
            <a:off x="4846320" y="1691640"/>
            <a:ext cx="3566160" cy="265176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sz="1250" b="1" dirty="0" err="1">
                <a:solidFill>
                  <a:schemeClr val="bg1"/>
                </a:solidFill>
                <a:latin typeface="Aptos"/>
              </a:rPr>
              <a:t>Planul</a:t>
            </a:r>
            <a:r>
              <a:rPr sz="1250" b="1" dirty="0">
                <a:solidFill>
                  <a:schemeClr val="bg1"/>
                </a:solidFill>
                <a:latin typeface="Aptos"/>
              </a:rPr>
              <a:t> pe 2 </a:t>
            </a:r>
            <a:r>
              <a:rPr sz="1250" b="1" dirty="0" err="1">
                <a:solidFill>
                  <a:schemeClr val="bg1"/>
                </a:solidFill>
                <a:latin typeface="Aptos"/>
              </a:rPr>
              <a:t>săptămâni</a:t>
            </a:r>
            <a:endParaRPr lang="en-US" sz="1100" dirty="0">
              <a:solidFill>
                <a:schemeClr val="bg1"/>
              </a:solidFill>
            </a:endParaRPr>
          </a:p>
          <a:p>
            <a:pPr>
              <a:spcAft>
                <a:spcPts val="300"/>
              </a:spcAft>
            </a:pPr>
            <a:r>
              <a:rPr sz="1050" b="0" dirty="0" err="1">
                <a:solidFill>
                  <a:schemeClr val="bg1"/>
                </a:solidFill>
                <a:latin typeface="Aptos"/>
              </a:rPr>
              <a:t>Săpt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. 1: </a:t>
            </a:r>
            <a:r>
              <a:rPr sz="1050" b="0" dirty="0" err="1">
                <a:solidFill>
                  <a:schemeClr val="bg1"/>
                </a:solidFill>
                <a:latin typeface="Aptos"/>
              </a:rPr>
              <a:t>verificarea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050" b="0" dirty="0" err="1">
                <a:solidFill>
                  <a:schemeClr val="bg1"/>
                </a:solidFill>
                <a:latin typeface="Aptos"/>
              </a:rPr>
              <a:t>datelor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, </a:t>
            </a:r>
            <a:r>
              <a:rPr sz="1050" b="0" dirty="0" err="1">
                <a:solidFill>
                  <a:schemeClr val="bg1"/>
                </a:solidFill>
                <a:latin typeface="Aptos"/>
              </a:rPr>
              <a:t>lipsurilor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050" b="0" dirty="0" err="1">
                <a:solidFill>
                  <a:schemeClr val="bg1"/>
                </a:solidFill>
                <a:latin typeface="Aptos"/>
              </a:rPr>
              <a:t>și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050" b="0" dirty="0" err="1">
                <a:solidFill>
                  <a:schemeClr val="bg1"/>
                </a:solidFill>
                <a:latin typeface="Aptos"/>
              </a:rPr>
              <a:t>distribuțiilor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; </a:t>
            </a:r>
            <a:r>
              <a:rPr sz="1050" b="0" dirty="0" err="1">
                <a:solidFill>
                  <a:schemeClr val="bg1"/>
                </a:solidFill>
                <a:latin typeface="Aptos"/>
              </a:rPr>
              <a:t>matricea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 X </a:t>
            </a:r>
            <a:r>
              <a:rPr sz="1050" b="0" dirty="0" err="1">
                <a:solidFill>
                  <a:schemeClr val="bg1"/>
                </a:solidFill>
                <a:latin typeface="Aptos"/>
              </a:rPr>
              <a:t>zilnică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050" b="0" dirty="0" err="1">
                <a:solidFill>
                  <a:schemeClr val="bg1"/>
                </a:solidFill>
                <a:latin typeface="Aptos"/>
              </a:rPr>
              <a:t>Săpt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. 2: </a:t>
            </a:r>
            <a:r>
              <a:rPr sz="1050" b="0" dirty="0" err="1">
                <a:solidFill>
                  <a:schemeClr val="bg1"/>
                </a:solidFill>
                <a:latin typeface="Aptos"/>
              </a:rPr>
              <a:t>standardizare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, </a:t>
            </a:r>
            <a:r>
              <a:rPr sz="1050" b="0" dirty="0" err="1">
                <a:solidFill>
                  <a:schemeClr val="bg1"/>
                </a:solidFill>
                <a:latin typeface="Aptos"/>
              </a:rPr>
              <a:t>explorare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 PCA </a:t>
            </a:r>
            <a:r>
              <a:rPr sz="1050" b="0" dirty="0" err="1">
                <a:solidFill>
                  <a:schemeClr val="bg1"/>
                </a:solidFill>
                <a:latin typeface="Aptos"/>
              </a:rPr>
              <a:t>și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 scree/loadings.</a:t>
            </a:r>
          </a:p>
          <a:p>
            <a:pPr>
              <a:spcAft>
                <a:spcPts val="300"/>
              </a:spcAft>
            </a:pPr>
            <a:r>
              <a:rPr sz="1050" b="0" dirty="0">
                <a:solidFill>
                  <a:schemeClr val="bg1"/>
                </a:solidFill>
                <a:latin typeface="Aptos"/>
              </a:rPr>
              <a:t>La CP2: </a:t>
            </a:r>
            <a:r>
              <a:rPr sz="1050" b="0" dirty="0" err="1">
                <a:solidFill>
                  <a:schemeClr val="bg1"/>
                </a:solidFill>
                <a:latin typeface="Aptos"/>
              </a:rPr>
              <a:t>matricea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 X + </a:t>
            </a:r>
            <a:r>
              <a:rPr sz="1050" b="0" dirty="0" err="1">
                <a:solidFill>
                  <a:schemeClr val="bg1"/>
                </a:solidFill>
                <a:latin typeface="Aptos"/>
              </a:rPr>
              <a:t>figurile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050" b="0" dirty="0" err="1">
                <a:solidFill>
                  <a:schemeClr val="bg1"/>
                </a:solidFill>
                <a:latin typeface="Aptos"/>
              </a:rPr>
              <a:t>exploratorii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050" b="0" dirty="0" err="1">
                <a:solidFill>
                  <a:schemeClr val="bg1"/>
                </a:solidFill>
                <a:latin typeface="Aptos"/>
              </a:rPr>
              <a:t>Comparație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: PM2.5 </a:t>
            </a:r>
            <a:r>
              <a:rPr sz="1050" b="0" dirty="0" err="1">
                <a:solidFill>
                  <a:schemeClr val="bg1"/>
                </a:solidFill>
                <a:latin typeface="Aptos"/>
              </a:rPr>
              <a:t>singur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 vs. PM2.5 + </a:t>
            </a:r>
            <a:r>
              <a:rPr sz="1050" b="0" dirty="0" err="1">
                <a:solidFill>
                  <a:schemeClr val="bg1"/>
                </a:solidFill>
                <a:latin typeface="Aptos"/>
              </a:rPr>
              <a:t>meteo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.</a:t>
            </a:r>
          </a:p>
          <a:p>
            <a:pPr>
              <a:spcAft>
                <a:spcPts val="300"/>
              </a:spcAft>
            </a:pPr>
            <a:r>
              <a:rPr sz="1050" b="0" dirty="0" err="1">
                <a:solidFill>
                  <a:schemeClr val="bg1"/>
                </a:solidFill>
                <a:latin typeface="Aptos"/>
              </a:rPr>
              <a:t>Secțiune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 </a:t>
            </a:r>
            <a:r>
              <a:rPr sz="1050" b="0" dirty="0" err="1">
                <a:solidFill>
                  <a:schemeClr val="bg1"/>
                </a:solidFill>
                <a:latin typeface="Aptos"/>
              </a:rPr>
              <a:t>articol</a:t>
            </a:r>
            <a:r>
              <a:rPr sz="1050" b="0" dirty="0">
                <a:solidFill>
                  <a:schemeClr val="bg1"/>
                </a:solidFill>
                <a:latin typeface="Aptos"/>
              </a:rPr>
              <a:t>: Data / Methods.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lIns="27432" tIns="18288" rIns="27432" bIns="18288" rtlCol="0" anchor="ctr"/>
          <a:lstStyle/>
          <a:p>
            <a:pPr marL="0" indent="0">
              <a:spcAft>
                <a:spcPts val="300"/>
              </a:spcAft>
              <a:buNone/>
            </a:pP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DE GeoSense">
  <a:themeElements>
    <a:clrScheme name="MEDE GeoSense">
      <a:dk1>
        <a:srgbClr val="1B2A41"/>
      </a:dk1>
      <a:lt1>
        <a:srgbClr val="F4F0E8"/>
      </a:lt1>
      <a:dk2>
        <a:srgbClr val="4A5563"/>
      </a:dk2>
      <a:lt2>
        <a:srgbClr val="E9E3D6"/>
      </a:lt2>
      <a:accent1>
        <a:srgbClr val="C8702A"/>
      </a:accent1>
      <a:accent2>
        <a:srgbClr val="1B2A41"/>
      </a:accent2>
      <a:accent3>
        <a:srgbClr val="8A96A3"/>
      </a:accent3>
      <a:accent4>
        <a:srgbClr val="D9D2C3"/>
      </a:accent4>
      <a:accent5>
        <a:srgbClr val="F4F0E8"/>
      </a:accent5>
      <a:accent6>
        <a:srgbClr val="E9E3D6"/>
      </a:accent6>
      <a:hlink>
        <a:srgbClr val="C8702A"/>
      </a:hlink>
      <a:folHlink>
        <a:srgbClr val="8A96A3"/>
      </a:folHlink>
    </a:clrScheme>
    <a:fontScheme name="MEDE GeoSens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747</Words>
  <Application>Microsoft Office PowerPoint</Application>
  <PresentationFormat>Expunere pe ecran (16:9)</PresentationFormat>
  <Paragraphs>114</Paragraphs>
  <Slides>3</Slides>
  <Notes>3</Notes>
  <HiddenSlides>0</HiddenSlides>
  <MMClips>0</MMClips>
  <ScaleCrop>false</ScaleCrop>
  <HeadingPairs>
    <vt:vector size="6" baseType="variant">
      <vt:variant>
        <vt:lpstr>Fonturi utilizate</vt:lpstr>
      </vt:variant>
      <vt:variant>
        <vt:i4>3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3</vt:i4>
      </vt:variant>
    </vt:vector>
  </HeadingPairs>
  <TitlesOfParts>
    <vt:vector size="7" baseType="lpstr">
      <vt:lpstr>Aptos</vt:lpstr>
      <vt:lpstr>Arial</vt:lpstr>
      <vt:lpstr>Cambria</vt:lpstr>
      <vt:lpstr>MEDE GeoSense</vt:lpstr>
      <vt:lpstr>Prezentare PowerPoint</vt:lpstr>
      <vt:lpstr>Prezentare PowerPoint</vt:lpstr>
      <vt:lpstr>Prezentare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MEDE — Șablon checkpoint</dc:title>
  <dc:subject>PptxGenJS Presentation</dc:subject>
  <dc:creator>GeoSense Lab, ETTI–UNSTPB</dc:creator>
  <cp:lastModifiedBy>Ana-Maria-Larisa LIȚĂ (124977)</cp:lastModifiedBy>
  <cp:revision>5</cp:revision>
  <dcterms:created xsi:type="dcterms:W3CDTF">2026-10-07T14:41:20Z</dcterms:created>
  <dcterms:modified xsi:type="dcterms:W3CDTF">2026-10-20T17:03:02Z</dcterms:modified>
</cp:coreProperties>
</file>